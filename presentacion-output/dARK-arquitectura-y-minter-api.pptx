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16843cf1ab4b9b" /><Relationship Type="http://schemas.openxmlformats.org/officeDocument/2006/relationships/extended-properties" Target="/docProps/app.xml" Id="R7effd4a112d048f0" /><Relationship Type="http://schemas.openxmlformats.org/officeDocument/2006/relationships/officeDocument" Target="/ppt/presentation.xml" Id="Rf8d5a080b7bb40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01f14bbe7d4751"/>
  </p:sldMasterIdLst>
  <p:notesMasterIdLst>
    <p:notesMasterId xmlns:r="http://schemas.openxmlformats.org/officeDocument/2006/relationships" r:id="Rf01d7f42125e46a1"/>
  </p:notesMasterIdLst>
  <p:sldIdLst>
    <p:sldId xmlns:r="http://schemas.openxmlformats.org/officeDocument/2006/relationships" id="256" r:id="R033acadc770f4dd6"/>
    <p:sldId xmlns:r="http://schemas.openxmlformats.org/officeDocument/2006/relationships" id="257" r:id="Rcaba19c86f464b56"/>
    <p:sldId xmlns:r="http://schemas.openxmlformats.org/officeDocument/2006/relationships" id="258" r:id="R12599b31694245a9"/>
    <p:sldId xmlns:r="http://schemas.openxmlformats.org/officeDocument/2006/relationships" id="259" r:id="R876dda9a5c4d4b57"/>
    <p:sldId xmlns:r="http://schemas.openxmlformats.org/officeDocument/2006/relationships" id="260" r:id="R70a2201702f049e1"/>
    <p:sldId xmlns:r="http://schemas.openxmlformats.org/officeDocument/2006/relationships" id="261" r:id="R9babcf1764d146a2"/>
    <p:sldId xmlns:r="http://schemas.openxmlformats.org/officeDocument/2006/relationships" id="262" r:id="R28d54317271346e6"/>
    <p:sldId xmlns:r="http://schemas.openxmlformats.org/officeDocument/2006/relationships" id="263" r:id="Rdd4a27c5672946dc"/>
    <p:sldId xmlns:r="http://schemas.openxmlformats.org/officeDocument/2006/relationships" id="264" r:id="R9712ba0c5f0049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6edd25a90f47e4" /><Relationship Type="http://schemas.openxmlformats.org/officeDocument/2006/relationships/slideMaster" Target="/ppt/slideMasters/slideMaster1.xml" Id="R7401f14bbe7d4751" /><Relationship Type="http://schemas.openxmlformats.org/officeDocument/2006/relationships/notesMaster" Target="/ppt/notesMasters/notesMaster1.xml" Id="Rf01d7f42125e46a1" /><Relationship Type="http://schemas.openxmlformats.org/officeDocument/2006/relationships/presProps" Target="/ppt/presProps.xml" Id="R48059c907a7044be" /><Relationship Type="http://schemas.openxmlformats.org/officeDocument/2006/relationships/tableStyles" Target="/ppt/tableStyles.xml" Id="R34be212129c2496a" /><Relationship Type="http://schemas.openxmlformats.org/officeDocument/2006/relationships/slide" Target="/ppt/slides/slide1.xml" Id="R033acadc770f4dd6" /><Relationship Type="http://schemas.openxmlformats.org/officeDocument/2006/relationships/slide" Target="/ppt/slides/slide2.xml" Id="Rcaba19c86f464b56" /><Relationship Type="http://schemas.openxmlformats.org/officeDocument/2006/relationships/slide" Target="/ppt/slides/slide3.xml" Id="R12599b31694245a9" /><Relationship Type="http://schemas.openxmlformats.org/officeDocument/2006/relationships/slide" Target="/ppt/slides/slide4.xml" Id="R876dda9a5c4d4b57" /><Relationship Type="http://schemas.openxmlformats.org/officeDocument/2006/relationships/slide" Target="/ppt/slides/slide5.xml" Id="R70a2201702f049e1" /><Relationship Type="http://schemas.openxmlformats.org/officeDocument/2006/relationships/slide" Target="/ppt/slides/slide6.xml" Id="R9babcf1764d146a2" /><Relationship Type="http://schemas.openxmlformats.org/officeDocument/2006/relationships/slide" Target="/ppt/slides/slide7.xml" Id="R28d54317271346e6" /><Relationship Type="http://schemas.openxmlformats.org/officeDocument/2006/relationships/slide" Target="/ppt/slides/slide8.xml" Id="Rdd4a27c5672946dc" /><Relationship Type="http://schemas.openxmlformats.org/officeDocument/2006/relationships/slide" Target="/ppt/slides/slide9.xml" Id="R9712ba0c5f0049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24f493b65941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1035da1cf64d50" /><Relationship Type="http://schemas.openxmlformats.org/officeDocument/2006/relationships/notesMaster" Target="/ppt/notesMasters/notesMaster1.xml" Id="Re030a7a2aaac41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bcfcb1dfb449fa" /><Relationship Type="http://schemas.openxmlformats.org/officeDocument/2006/relationships/notesMaster" Target="/ppt/notesMasters/notesMaster1.xml" Id="Rc5683e7ffd9c44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e7ce263c014233" /><Relationship Type="http://schemas.openxmlformats.org/officeDocument/2006/relationships/notesMaster" Target="/ppt/notesMasters/notesMaster1.xml" Id="Re2f16847450a49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34738712a147f1" /><Relationship Type="http://schemas.openxmlformats.org/officeDocument/2006/relationships/notesMaster" Target="/ppt/notesMasters/notesMaster1.xml" Id="Red50155e56a440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5c99638388413c" /><Relationship Type="http://schemas.openxmlformats.org/officeDocument/2006/relationships/notesMaster" Target="/ppt/notesMasters/notesMaster1.xml" Id="R15d77c2ec12f40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72cf5ef8b24644" /><Relationship Type="http://schemas.openxmlformats.org/officeDocument/2006/relationships/notesMaster" Target="/ppt/notesMasters/notesMaster1.xml" Id="Rf79dbaf30e5946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bcb8446c9140b0" /><Relationship Type="http://schemas.openxmlformats.org/officeDocument/2006/relationships/notesMaster" Target="/ppt/notesMasters/notesMaster1.xml" Id="R282b1aa3f57849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d2a2fb88a04621" /><Relationship Type="http://schemas.openxmlformats.org/officeDocument/2006/relationships/notesMaster" Target="/ppt/notesMasters/notesMaster1.xml" Id="R2faba00eafb544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78ed17724543a4" /><Relationship Type="http://schemas.openxmlformats.org/officeDocument/2006/relationships/notesMaster" Target="/ppt/notesMasters/notesMaster1.xml" Id="Rb0179aebcf4446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DARK_2.0_ARCHITECTURE.md; docs/ipfs-concepts-and-dark-store-api.md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DARK_2.0_ARCHITECTURE.md, secciones 2.1–2.3; DARK_2.0_GUIDE.md, sección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docs/decoupled-infrastructure.md. Nota: el documento se marca como histórico respecto al diseño de almacenamiento; se conserva aquí la separación de tiers y el modelo de despliegue.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DARK_2.0_GUIDE.md sección 3; DARK_2.0_API_REFERENCE.md sección 2.1.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DARK_2.0_API_REFERENCE.md sección 2.2.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DARK_2.0_API_REFERENCE.md sección 2.2. El ejemplo se adapta mínimamente del payload documentado.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DARK_2.0_ARCHITECTURE.md sección 5; docs/ipfs-concepts-and-dark-store-api.md secciones 7 y 8; docs/deployer-operations.md.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DARK_2.0_ARCHITECTURE.md sección 4.1.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5fd6c7cdfb47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0af05f53ff4a6b" /><Relationship Type="http://schemas.openxmlformats.org/officeDocument/2006/relationships/slideLayout" Target="/ppt/slideLayouts/slideLayout1.xml" Id="R75e4d0845f264b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e4d0845f264b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1ee44226d494c" /><Relationship Type="http://schemas.openxmlformats.org/officeDocument/2006/relationships/notesSlide" Target="/ppt/notesSlides/notesSlide1.xml" Id="R573956b15e1245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5fcb8f9cc42c2" /><Relationship Type="http://schemas.openxmlformats.org/officeDocument/2006/relationships/notesSlide" Target="/ppt/notesSlides/notesSlide2.xml" Id="R079783b98e1548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90371f42349d6" /><Relationship Type="http://schemas.openxmlformats.org/officeDocument/2006/relationships/notesSlide" Target="/ppt/notesSlides/notesSlide3.xml" Id="R10373f5a3e9541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2743ef73c41b2" /><Relationship Type="http://schemas.openxmlformats.org/officeDocument/2006/relationships/notesSlide" Target="/ppt/notesSlides/notesSlide4.xml" Id="Rbf481371eb964d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c4702e6254890" /><Relationship Type="http://schemas.openxmlformats.org/officeDocument/2006/relationships/notesSlide" Target="/ppt/notesSlides/notesSlide5.xml" Id="Ra357adad084542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1e0a582104664" /><Relationship Type="http://schemas.openxmlformats.org/officeDocument/2006/relationships/notesSlide" Target="/ppt/notesSlides/notesSlide6.xml" Id="Rb07e6b97a9304e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2574ab7804f04" /><Relationship Type="http://schemas.openxmlformats.org/officeDocument/2006/relationships/notesSlide" Target="/ppt/notesSlides/notesSlide7.xml" Id="R644a4fa14dc347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f0e6143284e00" /><Relationship Type="http://schemas.openxmlformats.org/officeDocument/2006/relationships/notesSlide" Target="/ppt/notesSlides/notesSlide8.xml" Id="Ra57267319fc54b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5029ee804490e" /><Relationship Type="http://schemas.openxmlformats.org/officeDocument/2006/relationships/notesSlide" Target="/ppt/notesSlides/notesSlide9.xml" Id="R0df971196b0a42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CA3CF-AD0D-41B6-918D-33B4AEEA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40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dARK 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E6A82-5559-4C40-A11B-A0ED6F34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9D7FF"/>
                </a:solidFill>
                <a:latin typeface="Helvetica"/>
                <a:ea typeface="Helvetica"/>
                <a:cs typeface="Helvetica"/>
              </a:defRPr>
            </a:pPr>
            <a:r>
              <a:rPr sz="2250" b="0">
                <a:solidFill>
                  <a:srgbClr val="B9D7FF"/>
                </a:solidFill>
                <a:latin typeface="Helvetica"/>
                <a:ea typeface="Helvetica"/>
                <a:cs typeface="Helvetica"/>
              </a:rPr>
              <a:t>Arquitectura y API de Minter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DE85B-81E4-4875-A096-B391F5C8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6F0FA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E6F0FA"/>
                </a:solidFill>
                <a:latin typeface="Helvetica"/>
                <a:ea typeface="Helvetica"/>
                <a:cs typeface="Helvetica"/>
              </a:rPr>
              <a:t>Una plataforma de identificadores ARK con control de autoridad, almacenamiento IPFS y publicación on-chain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0D5FF-0556-48A3-A78E-88F66217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3C8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9FB3C8"/>
                </a:solidFill>
                <a:latin typeface="Helvetica"/>
                <a:ea typeface="Helvetica"/>
                <a:cs typeface="Helvetica"/>
              </a:rPr>
              <a:t>Basado en la documentación del repositorio dark-deployer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D6AB1-F8F8-4FF0-9CE3-3D78C3D5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430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31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dARK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9D5E1-E9BE-48DC-95D5-D2058FD0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76625"/>
            <a:ext cx="1428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99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Minter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:8001</a:t>
            </a:r>
          </a:p>
        </p:txBody>
      </p:sp>
    </p:spTree>
    <p:extLst>
      <p:ext uri="{BB962C8B-B14F-4D97-AF65-F5344CB8AC3E}">
        <p14:creationId xmlns:p14="http://schemas.microsoft.com/office/powerpoint/2010/main" val="20307484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D2E50-A67C-4F2C-AA21-A8593052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240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dARK en una vista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87D59-127B-44A6-B371-6AC423AB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627D98"/>
                </a:solidFill>
                <a:latin typeface="Helvetica"/>
                <a:ea typeface="Helvetica"/>
                <a:cs typeface="Helvetica"/>
              </a:rPr>
              <a:t>Tres capas separan autoridad, persistencia y resolución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0A1D0-C878-490D-944D-8CCDE1BB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10668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Capa de servicios</a:t>
            </a:r>
          </a:p>
          <a:p xmlns:a="http://schemas.openxmlformats.org/drawingml/2006/main">
            <a:pPr>
              <a:defRPr sz="195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Admin API :8000     Minter API :8001     Resolver API :8002     Store API :8003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47162-5FD0-4919-90AD-62D77D6E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10668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625B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0B625B"/>
                </a:solidFill>
                <a:latin typeface="Helvetica"/>
                <a:ea typeface="Helvetica"/>
                <a:cs typeface="Helvetica"/>
              </a:rPr>
              <a:t>Capa blockchain</a:t>
            </a:r>
          </a:p>
          <a:p xmlns:a="http://schemas.openxmlformats.org/drawingml/2006/main">
            <a:pPr>
              <a:defRPr sz="1950" b="1">
                <a:solidFill>
                  <a:srgbClr val="0B625B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0B625B"/>
                </a:solidFill>
                <a:latin typeface="Helvetica"/>
                <a:ea typeface="Helvetica"/>
                <a:cs typeface="Helvetica"/>
              </a:rPr>
              <a:t>Authority.sol  ↔  IAuthority.sol  ↔  dARK.sol</a:t>
            </a:r>
          </a:p>
          <a:p xmlns:a="http://schemas.openxmlformats.org/drawingml/2006/main">
            <a:pPr>
              <a:defRPr sz="1950" b="1">
                <a:solidFill>
                  <a:srgbClr val="0B625B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0B625B"/>
                </a:solidFill>
                <a:latin typeface="Helvetica"/>
                <a:ea typeface="Helvetica"/>
                <a:cs typeface="Helvetica"/>
              </a:rPr>
              <a:t>Besu / dark-env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523C0-EEB8-439F-8346-1454BA02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10668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A4B08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8A4B08"/>
                </a:solidFill>
                <a:latin typeface="Helvetica"/>
                <a:ea typeface="Helvetica"/>
                <a:cs typeface="Helvetica"/>
              </a:rPr>
              <a:t>Capa de almacenamiento</a:t>
            </a:r>
          </a:p>
          <a:p xmlns:a="http://schemas.openxmlformats.org/drawingml/2006/main">
            <a:pPr>
              <a:defRPr sz="1950" b="1">
                <a:solidFill>
                  <a:srgbClr val="8A4B08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8A4B08"/>
                </a:solidFill>
                <a:latin typeface="Helvetica"/>
                <a:ea typeface="Helvetica"/>
                <a:cs typeface="Helvetica"/>
              </a:rPr>
              <a:t>dark-store-api  →  IPFS Cluster  →  nodos IPFS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82E0A-B9B1-4853-B068-F0FFB2DA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24125"/>
            <a:ext cx="9525" cy="35242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F80E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C08A8-07DF-4DC9-8D03-A1C0AFFD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24300"/>
            <a:ext cx="9525" cy="35242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F2994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FC9B7-C73A-4FBD-82B7-C809F250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627D98"/>
                </a:solidFill>
                <a:latin typeface="Helvetica"/>
                <a:ea typeface="Helvetica"/>
                <a:cs typeface="Helvetica"/>
              </a:rPr>
              <a:t>dARK 2.0  •  2</a:t>
            </a:r>
          </a:p>
        </p:txBody>
      </p:sp>
    </p:spTree>
    <p:extLst>
      <p:ext uri="{BB962C8B-B14F-4D97-AF65-F5344CB8AC3E}">
        <p14:creationId xmlns:p14="http://schemas.microsoft.com/office/powerpoint/2010/main" val="8389797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FD50FB-9B5D-40FF-98B3-7492294D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240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Contratos inteligentes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91E34-5C03-4204-9517-8EAA271B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627D98"/>
                </a:solidFill>
                <a:latin typeface="Helvetica"/>
                <a:ea typeface="Helvetica"/>
                <a:cs typeface="Helvetica"/>
              </a:rPr>
              <a:t>La arquitectura separa control de acceso y almacenamiento de ARKs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3BC73-2024-4E73-A2C7-3F85444A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3143250" cy="32385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Authority.sol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• UUID ↔ wallet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• estado activo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• autorización de NAAN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• clave privada cifrada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Admin registra y desactiva.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La autoridad reclama NAANs.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D8101-0145-488F-AC94-1034A6EF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654A5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7654A5"/>
                </a:solidFill>
                <a:latin typeface="Helvetica"/>
                <a:ea typeface="Helvetica"/>
                <a:cs typeface="Helvetica"/>
              </a:rPr>
              <a:t>IAuthority.sol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1">
                <a:solidFill>
                  <a:srgbClr val="7654A5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7654A5"/>
                </a:solidFill>
                <a:latin typeface="Helvetica"/>
                <a:ea typeface="Helvetica"/>
                <a:cs typeface="Helvetica"/>
              </a:rPr>
              <a:t>is_authorized(wallet, naan)</a:t>
            </a:r>
          </a:p>
          <a:p xmlns:a="http://schemas.openxmlformats.org/drawingml/2006/main">
            <a:pPr>
              <a:defRPr sz="1650" b="1">
                <a:solidFill>
                  <a:srgbClr val="7654A5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7654A5"/>
                </a:solidFill>
                <a:latin typeface="Helvetica"/>
                <a:ea typeface="Helvetica"/>
                <a:cs typeface="Helvetica"/>
              </a:rPr>
              <a:t>is_active_authority(wallet)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91C60E-AA04-4FF4-B341-49446636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24000"/>
            <a:ext cx="3143250" cy="32385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dARK.sol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• create_ark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• update_ark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• resolve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• get_ark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• ark_exists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Guarda name, naan, url, cid, owner y timestamps.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FF65A-6E56-45CD-B2FF-933D342E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48000"/>
            <a:ext cx="666750" cy="952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8A99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65BF2-B3D9-4B2E-B77D-3351AAA1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48000"/>
            <a:ext cx="666750" cy="952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8A99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6B7C1-58BE-453C-B7E3-1F9BA637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627D98"/>
                </a:solidFill>
                <a:latin typeface="Helvetica"/>
                <a:ea typeface="Helvetica"/>
                <a:cs typeface="Helvetica"/>
              </a:rPr>
              <a:t>dARK 2.0  •  3</a:t>
            </a:r>
          </a:p>
        </p:txBody>
      </p:sp>
    </p:spTree>
    <p:extLst>
      <p:ext uri="{BB962C8B-B14F-4D97-AF65-F5344CB8AC3E}">
        <p14:creationId xmlns:p14="http://schemas.microsoft.com/office/powerpoint/2010/main" val="11342236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DB606E-385D-4A65-87E1-E54014BF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240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Topología de despliegue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A6331-7272-4B55-BC79-61E626B2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627D98"/>
                </a:solidFill>
                <a:latin typeface="Helvetica"/>
                <a:ea typeface="Helvetica"/>
                <a:cs typeface="Helvetica"/>
              </a:rPr>
              <a:t>En sandbox y producción, los tiers escalan por separado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B14D9-6A6F-4AFC-BBC8-9ED039DF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Blockchain tier</a:t>
            </a:r>
          </a:p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≥3 nodos Besu / QBFT / PoA</a:t>
            </a:r>
          </a:p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Node 1: bootnode + RPC + despliegue de contratos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BF1A0-FA80-4879-966D-D18C1F1F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0858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Application tier</a:t>
            </a:r>
          </a:p>
          <a:p xmlns:a="http://schemas.openxmlformats.org/drawingml/2006/main">
            <a:pPr>
              <a:defRPr sz="1800" b="1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Admin API · Minter API · Resolver API · Store API · Dashboard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2C5EA-D609-40E2-9444-2948A32C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10858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A4B08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8A4B08"/>
                </a:solidFill>
                <a:latin typeface="Helvetica"/>
                <a:ea typeface="Helvetica"/>
                <a:cs typeface="Helvetica"/>
              </a:rPr>
              <a:t>IPFS tier</a:t>
            </a:r>
          </a:p>
          <a:p xmlns:a="http://schemas.openxmlformats.org/drawingml/2006/main">
            <a:pPr>
              <a:defRPr sz="1800" b="1">
                <a:solidFill>
                  <a:srgbClr val="8A4B08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8A4B08"/>
                </a:solidFill>
                <a:latin typeface="Helvetica"/>
                <a:ea typeface="Helvetica"/>
                <a:cs typeface="Helvetica"/>
              </a:rPr>
              <a:t>Kubo + IPFS Cluster; el Cluster replica el contenido fijado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88CE2-2395-4555-AA1C-BBD71DEB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9525" cy="5715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F80E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26281-D7DC-451F-A66E-AF5D8069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33875"/>
            <a:ext cx="9525" cy="5715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F2994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F0BC2-0B1E-4CD9-A800-622DFB6B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627D98"/>
                </a:solidFill>
                <a:latin typeface="Helvetica"/>
                <a:ea typeface="Helvetica"/>
                <a:cs typeface="Helvetica"/>
              </a:rPr>
              <a:t>dARK 2.0  •  4</a:t>
            </a:r>
          </a:p>
        </p:txBody>
      </p:sp>
    </p:spTree>
    <p:extLst>
      <p:ext uri="{BB962C8B-B14F-4D97-AF65-F5344CB8AC3E}">
        <p14:creationId xmlns:p14="http://schemas.microsoft.com/office/powerpoint/2010/main" val="1712519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07E605-9520-44F4-B4E7-E5FA57E8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240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Ciclo de vida de un 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F8715-B41A-4128-9B6F-EABD1487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627D98"/>
                </a:solidFill>
                <a:latin typeface="Helvetica"/>
                <a:ea typeface="Helvetica"/>
                <a:cs typeface="Helvetica"/>
              </a:rPr>
              <a:t>El Minter desacopla la reserva del identificador y la confirmación on-chain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7B65A-9217-4EAB-9A8A-65B841BB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18E09-E81C-442C-BAC1-01EDF0D9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reserved</a:t>
            </a:r>
          </a:p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NOID asigna 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B21B11-7FA1-4074-B8B6-13877B70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86025"/>
            <a:ext cx="76200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27D9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B8B66-6CC0-4407-AF9A-864EE1FC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47875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191BF-764C-4774-9DE6-4BE0D549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95625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draft</a:t>
            </a:r>
          </a:p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metadata recibida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7DDAE-859F-4DCE-8434-983A0A60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86025"/>
            <a:ext cx="76200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27D9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15835-AC3B-4C79-B4AE-6742639D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47875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260998-FF8C-4C3F-83CC-C8B54307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95625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update</a:t>
            </a:r>
          </a:p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cambio pendiente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E099C-F8ED-4AA6-9EB9-2654F334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76200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27D9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C2ADD-D137-4E97-AF47-A4DE45CE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47875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E7BE74-60DB-4DD6-8EAD-E9C4D45B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95625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published</a:t>
            </a:r>
          </a:p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confirmado on-chain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6555A9-D17D-499B-B6C4-6DF8888A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86025"/>
            <a:ext cx="76200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27D9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A1503-FF7A-4F8A-91E8-85B89A1D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47875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6BC759-6953-44CF-AACF-83D044FF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95625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tombstone</a:t>
            </a:r>
          </a:p>
          <a:p xmlns:a="http://schemas.openxmlformats.org/drawingml/2006/main">
            <a:pPr>
              <a:def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borrado lógico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FFE06C-89F5-4006-AE72-6F0CEE2F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14875"/>
            <a:ext cx="9810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reserve() → R     PUT metadata: R → D o P → U     workers: D/U → P     DELETE: cualquier estado → 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EA9BB2-2D8B-4E98-AFE1-0A06D5BD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627D98"/>
                </a:solidFill>
                <a:latin typeface="Helvetica"/>
                <a:ea typeface="Helvetica"/>
                <a:cs typeface="Helvetica"/>
              </a:rPr>
              <a:t>dARK 2.0  •  5</a:t>
            </a:r>
          </a:p>
        </p:txBody>
      </p:sp>
    </p:spTree>
    <p:extLst>
      <p:ext uri="{BB962C8B-B14F-4D97-AF65-F5344CB8AC3E}">
        <p14:creationId xmlns:p14="http://schemas.microsoft.com/office/powerpoint/2010/main" val="18089052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90548-0512-4D5B-8C11-EB72FEEC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240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Minter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536D3-8C85-4263-BEB6-376CCDBA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627D98"/>
                </a:solidFill>
                <a:latin typeface="Helvetica"/>
                <a:ea typeface="Helvetica"/>
                <a:cs typeface="Helvetica"/>
              </a:rPr>
              <a:t>Superficie REST para reservar, completar, consultar y retirar ARKs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BDBCC-2883-4A3D-BA63-DBE67AF1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POST  /arks                    Reserva un ARK con NOID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FC680-7D75-4960-9268-6211CF9D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POST  /arks/batch              Reserva varios y correlaciona por client_item_id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BB995-E38B-48F0-8DCF-C4B21384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0858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3B53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243B53"/>
                </a:solidFill>
                <a:latin typeface="Helvetica"/>
                <a:ea typeface="Helvetica"/>
                <a:cs typeface="Helvetica"/>
              </a:rPr>
              <a:t>GET   /arks/{ark}              Consulta DB; fallback y merge con blockchain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9AA54-7FCB-479E-85A6-069A3B7F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0858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625B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B625B"/>
                </a:solidFill>
                <a:latin typeface="Helvetica"/>
                <a:ea typeface="Helvetica"/>
                <a:cs typeface="Helvetica"/>
              </a:rPr>
              <a:t>PUT   /arks/{ark}              Guarda metadata y encola create/update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DAB18-688A-492B-8ED7-6CC252F8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0858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A4B08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8A4B08"/>
                </a:solidFill>
                <a:latin typeface="Helvetica"/>
                <a:ea typeface="Helvetica"/>
                <a:cs typeface="Helvetica"/>
              </a:rPr>
              <a:t>DELETE /arks/{ark}              Tombstone irreversible, solo propietario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8E24AB-71C8-4419-B961-97E47517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D98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627D98"/>
                </a:solidFill>
                <a:latin typeface="Helvetica"/>
                <a:ea typeface="Helvetica"/>
                <a:cs typeface="Helvetica"/>
              </a:rPr>
              <a:t>Escrituras: identidad de autoridad. Lecturas: mTLS. Worker status: red interna.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D2788-393F-4E75-99A7-23E0F570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627D98"/>
                </a:solidFill>
                <a:latin typeface="Helvetica"/>
                <a:ea typeface="Helvetica"/>
                <a:cs typeface="Helvetica"/>
              </a:rPr>
              <a:t>dARK 2.0  •  6</a:t>
            </a:r>
          </a:p>
        </p:txBody>
      </p:sp>
    </p:spTree>
    <p:extLst>
      <p:ext uri="{BB962C8B-B14F-4D97-AF65-F5344CB8AC3E}">
        <p14:creationId xmlns:p14="http://schemas.microsoft.com/office/powerpoint/2010/main" val="6210121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03A46B-396E-45B4-A85F-8B61C9D8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240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Ejemplo de integración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61805-6C48-432C-B472-BBC3BFB3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627D98"/>
                </a:solidFill>
                <a:latin typeface="Helvetica"/>
                <a:ea typeface="Helvetica"/>
                <a:cs typeface="Helvetica"/>
              </a:rPr>
              <a:t>La API devuelve el estado operativo y los CIDs cuando están disponibles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2682E-2880-4412-A204-957A2B62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10668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PUT /arks/ark:/12345/abc123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7555F-3157-40E2-A3D4-1E07C1EF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0668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73B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rPr>
              <a:t>{</a:t>
            </a:r>
          </a:p>
          <a:p xmlns:a="http://schemas.openxmlformats.org/drawingml/2006/main">
            <a:pPr>
              <a:def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rPr>
              <a:t>  "authority_id": "org-uuid-12345",</a:t>
            </a:r>
          </a:p>
          <a:p xmlns:a="http://schemas.openxmlformats.org/drawingml/2006/main">
            <a:pPr>
              <a:def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rPr>
              <a:t>  "target": "https://example.org/item/1",</a:t>
            </a:r>
          </a:p>
          <a:p xmlns:a="http://schemas.openxmlformats.org/drawingml/2006/main">
            <a:pPr>
              <a:def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rPr>
              <a:t>  "minimal_metadata": {</a:t>
            </a:r>
          </a:p>
          <a:p xmlns:a="http://schemas.openxmlformats.org/drawingml/2006/main">
            <a:pPr>
              <a:def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rPr>
              <a:t>    "ark": "ark:/12345/abc123", "title": "My Item"</a:t>
            </a:r>
          </a:p>
          <a:p xmlns:a="http://schemas.openxmlformats.org/drawingml/2006/main">
            <a:pPr>
              <a:def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rPr>
              <a:t>  },</a:t>
            </a:r>
          </a:p>
          <a:p xmlns:a="http://schemas.openxmlformats.org/drawingml/2006/main">
            <a:pPr>
              <a:def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rPr>
              <a:t>  "original_metadata": "&lt;oai_dc:dc&gt;...&lt;/oai_dc:dc&gt;",</a:t>
            </a:r>
          </a:p>
          <a:p xmlns:a="http://schemas.openxmlformats.org/drawingml/2006/main">
            <a:pPr>
              <a:def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rPr>
              <a:t>  "metadata_schema": "dublin_core",</a:t>
            </a:r>
          </a:p>
          <a:p xmlns:a="http://schemas.openxmlformats.org/drawingml/2006/main">
            <a:pPr>
              <a:def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rPr>
              <a:t>  "metadata_media_type": "application/xml"</a:t>
            </a:r>
          </a:p>
          <a:p xmlns:a="http://schemas.openxmlformats.org/drawingml/2006/main">
            <a:pPr>
              <a:def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E6F0FA"/>
                </a:solidFill>
                <a:latin typeface="Helvetica"/>
                <a:ea typeface="Helvetica"/>
                <a:cs typeface="Helvetica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AD2C8-B807-4AFC-BBFE-086A7718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10668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99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Respuesta: ARKResponse  |  state: D  |  level1_cid: null  |  level2_cid: null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2450C-4F5D-48CF-B580-11845C05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627D98"/>
                </a:solidFill>
                <a:latin typeface="Helvetica"/>
                <a:ea typeface="Helvetica"/>
                <a:cs typeface="Helvetica"/>
              </a:rPr>
              <a:t>dARK 2.0  •  7</a:t>
            </a:r>
          </a:p>
        </p:txBody>
      </p:sp>
    </p:spTree>
    <p:extLst>
      <p:ext uri="{BB962C8B-B14F-4D97-AF65-F5344CB8AC3E}">
        <p14:creationId xmlns:p14="http://schemas.microsoft.com/office/powerpoint/2010/main" val="7267906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D86E0-F299-479F-8AF4-240C3BC5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240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Workers y persistencia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B10E1-1F03-4B36-83F5-05586967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627D98"/>
                </a:solidFill>
                <a:latin typeface="Helvetica"/>
                <a:ea typeface="Helvetica"/>
                <a:cs typeface="Helvetica"/>
              </a:rPr>
              <a:t>El Minter mantiene PostgreSQL como cola de trabajo y usa Store API como frontera de almacenamiento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E4FE3-A2B9-446D-A747-520B42B3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23336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API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reserva / recibe metadata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E6621-CD1B-40CB-908D-D242A565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381125"/>
            <a:ext cx="2381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PostgreSQL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Estado del ARK</a:t>
            </a:r>
          </a:p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reintentos</a:t>
            </a:r>
          </a:p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errores permanentes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79AF4-B1B3-4ABF-8F65-65D06A3A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52500"/>
            <a:ext cx="2381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625B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0B625B"/>
                </a:solidFill>
                <a:latin typeface="Helvetica"/>
                <a:ea typeface="Helvetica"/>
                <a:cs typeface="Helvetica"/>
              </a:rPr>
              <a:t>Metadata worker</a:t>
            </a:r>
          </a:p>
          <a:p xmlns:a="http://schemas.openxmlformats.org/drawingml/2006/main">
            <a:pPr>
              <a:defRPr sz="1650" b="1">
                <a:solidFill>
                  <a:srgbClr val="0B625B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0B625B"/>
                </a:solidFill>
                <a:latin typeface="Helvetica"/>
                <a:ea typeface="Helvetica"/>
                <a:cs typeface="Helvetica"/>
              </a:rPr>
              <a:t>L1/L2 → Store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35D6A-EE64-4F81-A0C4-CA244206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2381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A4B08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8A4B08"/>
                </a:solidFill>
                <a:latin typeface="Helvetica"/>
                <a:ea typeface="Helvetica"/>
                <a:cs typeface="Helvetica"/>
              </a:rPr>
              <a:t>Replication worker</a:t>
            </a:r>
          </a:p>
          <a:p xmlns:a="http://schemas.openxmlformats.org/drawingml/2006/main">
            <a:pPr>
              <a:defRPr sz="1650" b="1">
                <a:solidFill>
                  <a:srgbClr val="8A4B08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8A4B08"/>
                </a:solidFill>
                <a:latin typeface="Helvetica"/>
                <a:ea typeface="Helvetica"/>
                <a:cs typeface="Helvetica"/>
              </a:rPr>
              <a:t>reconciliación IPFS/Cluster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2CE59-59E4-4D06-A119-BDC6ED10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666875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Chain worker</a:t>
            </a:r>
          </a:p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create/update → Besu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1707F-92C7-497A-99C2-BEBC73D5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52675"/>
            <a:ext cx="619125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27D9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B5E05-AEE1-4FD0-AE26-A23619D5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47800"/>
            <a:ext cx="619125" cy="6477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8A99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79364E-BB4A-46BD-A7A2-2D8F264D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19375"/>
            <a:ext cx="619125" cy="2095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2994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EBCEFB-F611-4E92-93FE-0C5057CA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52675"/>
            <a:ext cx="523875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F80E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0292D-9741-46CF-AB01-F61B2710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0096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Para los servicios de negocio: Minter / Resolver → Store API → IPFS / Cluster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702C28-66CC-4999-A846-6BF42671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627D98"/>
                </a:solidFill>
                <a:latin typeface="Helvetica"/>
                <a:ea typeface="Helvetica"/>
                <a:cs typeface="Helvetica"/>
              </a:rPr>
              <a:t>dARK 2.0  •  8</a:t>
            </a:r>
          </a:p>
        </p:txBody>
      </p:sp>
    </p:spTree>
    <p:extLst>
      <p:ext uri="{BB962C8B-B14F-4D97-AF65-F5344CB8AC3E}">
        <p14:creationId xmlns:p14="http://schemas.microsoft.com/office/powerpoint/2010/main" val="15216913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53D10-4402-409B-8A5E-080F3566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240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Publicación on-chain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13A63-8224-4C6C-B874-40FEA122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627D98"/>
                </a:solidFill>
                <a:latin typeface="Helvetica"/>
                <a:ea typeface="Helvetica"/>
                <a:cs typeface="Helvetica"/>
              </a:rPr>
              <a:t>El pipeline de transacciones maximiza throughput sin romper la secuencia de nonces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6D85F-9B97-4329-8BAA-350889F6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047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Operaciones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create / update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F7AB5-5109-4341-B1E9-C39AD41C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71625"/>
            <a:ext cx="2047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Ventana de 20</a:t>
            </a:r>
          </a:p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nonce N…N+19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9585F-8DE0-4FC8-BFB6-C82D1981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71625"/>
            <a:ext cx="2047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625B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B625B"/>
                </a:solidFill>
                <a:latin typeface="Helvetica"/>
                <a:ea typeface="Helvetica"/>
                <a:cs typeface="Helvetica"/>
              </a:rPr>
              <a:t>Firmar y enviar</a:t>
            </a:r>
          </a:p>
          <a:p xmlns:a="http://schemas.openxmlformats.org/drawingml/2006/main">
            <a:pPr>
              <a:defRPr sz="1800" b="1">
                <a:solidFill>
                  <a:srgbClr val="0B625B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B625B"/>
                </a:solidFill>
                <a:latin typeface="Helvetica"/>
                <a:ea typeface="Helvetica"/>
                <a:cs typeface="Helvetica"/>
              </a:rPr>
              <a:t>al mempool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5D7E5-9A6D-4156-ACBC-E98AD26B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71625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A4B08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8A4B08"/>
                </a:solidFill>
                <a:latin typeface="Helvetica"/>
                <a:ea typeface="Helvetica"/>
                <a:cs typeface="Helvetica"/>
              </a:rPr>
              <a:t>Recibos y estados</a:t>
            </a:r>
          </a:p>
          <a:p xmlns:a="http://schemas.openxmlformats.org/drawingml/2006/main">
            <a:pPr>
              <a:defRPr sz="1650" b="1">
                <a:solidFill>
                  <a:srgbClr val="8A4B08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8A4B08"/>
                </a:solidFill>
                <a:latin typeface="Helvetica"/>
                <a:ea typeface="Helvetica"/>
                <a:cs typeface="Helvetica"/>
              </a:rPr>
              <a:t>confirmed / reverted / ambiguous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E7B94-784E-4C39-931F-753B9B8B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95500"/>
            <a:ext cx="619125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27D9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C1C7E9-C4D5-423C-B638-5238DD6E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095500"/>
            <a:ext cx="619125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27D9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70641-A7E8-4F00-A59D-ED6F02FB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95500"/>
            <a:ext cx="619125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27D9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ECC383-4CDD-46DE-B9E2-7086DD0E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10287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Regla de seguridad: un fallo de build, envío o receipt ambiguo detiene las ventanas siguientes y las marca not_sent para evitar un nonce gap.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06FD27-3F80-4CF9-983D-4B14D89A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02A43"/>
                </a:solidFill>
                <a:latin typeface="Helvetica"/>
                <a:ea typeface="Helvetica"/>
                <a:cs typeface="Helvetica"/>
              </a:rPr>
              <a:t>Resultado por operación: ref · acción · estado · error opcional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F1EE24-6D91-4B5D-807C-F73743D7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627D98"/>
                </a:solidFill>
                <a:latin typeface="Helvetica"/>
                <a:ea typeface="Helvetica"/>
                <a:cs typeface="Helvetica"/>
              </a:rPr>
              <a:t>dARK 2.0  •  9</a:t>
            </a:r>
          </a:p>
        </p:txBody>
      </p:sp>
    </p:spTree>
    <p:extLst>
      <p:ext uri="{BB962C8B-B14F-4D97-AF65-F5344CB8AC3E}">
        <p14:creationId xmlns:p14="http://schemas.microsoft.com/office/powerpoint/2010/main" val="18402655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2026-09-04T13:46:54.1650000Z</dcterms:created>
  <dcterms:modified xsi:type="dcterms:W3CDTF">2026-09-04T13:46:54.1650000Z</dcterms:modified>
</coreProperties>
</file>